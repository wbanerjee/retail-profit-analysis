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36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3B07AE-C5AA-47F0-B7E0-13B8EC2C4771}" v="9" dt="2026-02-18T19:03:46.7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rick Banerjee" userId="0bc651a74f82cf1d" providerId="LiveId" clId="{1642FFF8-90A8-456D-8271-528A71F2BACC}"/>
    <pc:docChg chg="undo custSel modSld">
      <pc:chgData name="Wrick Banerjee" userId="0bc651a74f82cf1d" providerId="LiveId" clId="{1642FFF8-90A8-456D-8271-528A71F2BACC}" dt="2026-02-19T15:12:22.020" v="74" actId="14100"/>
      <pc:docMkLst>
        <pc:docMk/>
      </pc:docMkLst>
      <pc:sldChg chg="modSp mod">
        <pc:chgData name="Wrick Banerjee" userId="0bc651a74f82cf1d" providerId="LiveId" clId="{1642FFF8-90A8-456D-8271-528A71F2BACC}" dt="2026-02-18T19:12:32.513" v="51" actId="207"/>
        <pc:sldMkLst>
          <pc:docMk/>
          <pc:sldMk cId="3921690166" sldId="256"/>
        </pc:sldMkLst>
        <pc:spChg chg="mod">
          <ac:chgData name="Wrick Banerjee" userId="0bc651a74f82cf1d" providerId="LiveId" clId="{1642FFF8-90A8-456D-8271-528A71F2BACC}" dt="2026-02-18T19:07:37.535" v="37" actId="207"/>
          <ac:spMkLst>
            <pc:docMk/>
            <pc:sldMk cId="3921690166" sldId="256"/>
            <ac:spMk id="2" creationId="{D678FF8B-D0A8-8237-3C87-95940D412F3A}"/>
          </ac:spMkLst>
        </pc:spChg>
        <pc:spChg chg="mod">
          <ac:chgData name="Wrick Banerjee" userId="0bc651a74f82cf1d" providerId="LiveId" clId="{1642FFF8-90A8-456D-8271-528A71F2BACC}" dt="2026-02-18T19:12:32.513" v="51" actId="207"/>
          <ac:spMkLst>
            <pc:docMk/>
            <pc:sldMk cId="3921690166" sldId="256"/>
            <ac:spMk id="4" creationId="{D7403AF4-5E90-EFEC-1044-8E4ECF74007B}"/>
          </ac:spMkLst>
        </pc:spChg>
      </pc:sldChg>
      <pc:sldChg chg="addSp modSp mod">
        <pc:chgData name="Wrick Banerjee" userId="0bc651a74f82cf1d" providerId="LiveId" clId="{1642FFF8-90A8-456D-8271-528A71F2BACC}" dt="2026-02-18T19:11:46.675" v="50" actId="948"/>
        <pc:sldMkLst>
          <pc:docMk/>
          <pc:sldMk cId="3752893375" sldId="257"/>
        </pc:sldMkLst>
        <pc:spChg chg="mod">
          <ac:chgData name="Wrick Banerjee" userId="0bc651a74f82cf1d" providerId="LiveId" clId="{1642FFF8-90A8-456D-8271-528A71F2BACC}" dt="2026-02-18T19:11:46.675" v="50" actId="948"/>
          <ac:spMkLst>
            <pc:docMk/>
            <pc:sldMk cId="3752893375" sldId="257"/>
            <ac:spMk id="2" creationId="{36C8AF65-662A-DB6C-B01C-FDFC37506687}"/>
          </ac:spMkLst>
        </pc:spChg>
        <pc:spChg chg="add mod">
          <ac:chgData name="Wrick Banerjee" userId="0bc651a74f82cf1d" providerId="LiveId" clId="{1642FFF8-90A8-456D-8271-528A71F2BACC}" dt="2026-02-18T19:03:39.668" v="34"/>
          <ac:spMkLst>
            <pc:docMk/>
            <pc:sldMk cId="3752893375" sldId="257"/>
            <ac:spMk id="3" creationId="{CF1471E2-2DBD-10F5-2774-07D0F5C9A31F}"/>
          </ac:spMkLst>
        </pc:spChg>
      </pc:sldChg>
      <pc:sldChg chg="addSp delSp modSp mod">
        <pc:chgData name="Wrick Banerjee" userId="0bc651a74f82cf1d" providerId="LiveId" clId="{1642FFF8-90A8-456D-8271-528A71F2BACC}" dt="2026-02-19T15:12:22.020" v="74" actId="14100"/>
        <pc:sldMkLst>
          <pc:docMk/>
          <pc:sldMk cId="1175794640" sldId="258"/>
        </pc:sldMkLst>
        <pc:spChg chg="mod">
          <ac:chgData name="Wrick Banerjee" userId="0bc651a74f82cf1d" providerId="LiveId" clId="{1642FFF8-90A8-456D-8271-528A71F2BACC}" dt="2026-02-18T19:08:16.516" v="39" actId="207"/>
          <ac:spMkLst>
            <pc:docMk/>
            <pc:sldMk cId="1175794640" sldId="258"/>
            <ac:spMk id="2" creationId="{351ECA29-B944-4560-F301-179644E363AD}"/>
          </ac:spMkLst>
        </pc:spChg>
        <pc:spChg chg="del mod">
          <ac:chgData name="Wrick Banerjee" userId="0bc651a74f82cf1d" providerId="LiveId" clId="{1642FFF8-90A8-456D-8271-528A71F2BACC}" dt="2026-02-18T19:00:23.742" v="8" actId="478"/>
          <ac:spMkLst>
            <pc:docMk/>
            <pc:sldMk cId="1175794640" sldId="258"/>
            <ac:spMk id="3" creationId="{293A3C49-46F6-35FF-4968-9B4739DD076C}"/>
          </ac:spMkLst>
        </pc:spChg>
        <pc:spChg chg="mod">
          <ac:chgData name="Wrick Banerjee" userId="0bc651a74f82cf1d" providerId="LiveId" clId="{1642FFF8-90A8-456D-8271-528A71F2BACC}" dt="2026-02-18T19:28:09.666" v="56" actId="20577"/>
          <ac:spMkLst>
            <pc:docMk/>
            <pc:sldMk cId="1175794640" sldId="258"/>
            <ac:spMk id="4" creationId="{8B622939-B5A8-67F7-6838-67C6231C4F38}"/>
          </ac:spMkLst>
        </pc:spChg>
        <pc:spChg chg="add mod">
          <ac:chgData name="Wrick Banerjee" userId="0bc651a74f82cf1d" providerId="LiveId" clId="{1642FFF8-90A8-456D-8271-528A71F2BACC}" dt="2026-02-18T19:03:36.202" v="33" actId="1036"/>
          <ac:spMkLst>
            <pc:docMk/>
            <pc:sldMk cId="1175794640" sldId="258"/>
            <ac:spMk id="6" creationId="{1052FDCD-406A-0A21-E71A-A7C1E911BC6B}"/>
          </ac:spMkLst>
        </pc:spChg>
        <pc:picChg chg="del">
          <ac:chgData name="Wrick Banerjee" userId="0bc651a74f82cf1d" providerId="LiveId" clId="{1642FFF8-90A8-456D-8271-528A71F2BACC}" dt="2026-02-19T15:10:23.461" v="61" actId="478"/>
          <ac:picMkLst>
            <pc:docMk/>
            <pc:sldMk cId="1175794640" sldId="258"/>
            <ac:picMk id="7" creationId="{14A36EFA-4C88-3B1D-3CAC-240A0830EE5D}"/>
          </ac:picMkLst>
        </pc:picChg>
        <pc:picChg chg="add mod">
          <ac:chgData name="Wrick Banerjee" userId="0bc651a74f82cf1d" providerId="LiveId" clId="{1642FFF8-90A8-456D-8271-528A71F2BACC}" dt="2026-02-19T15:10:48.132" v="66" actId="14100"/>
          <ac:picMkLst>
            <pc:docMk/>
            <pc:sldMk cId="1175794640" sldId="258"/>
            <ac:picMk id="8" creationId="{FB999BCF-6982-CE8E-653D-AB6CB86E8163}"/>
          </ac:picMkLst>
        </pc:picChg>
        <pc:picChg chg="del">
          <ac:chgData name="Wrick Banerjee" userId="0bc651a74f82cf1d" providerId="LiveId" clId="{1642FFF8-90A8-456D-8271-528A71F2BACC}" dt="2026-02-19T15:12:03.012" v="71" actId="478"/>
          <ac:picMkLst>
            <pc:docMk/>
            <pc:sldMk cId="1175794640" sldId="258"/>
            <ac:picMk id="10" creationId="{3E1F0371-9DDE-0960-973B-C6F8D2FB526B}"/>
          </ac:picMkLst>
        </pc:picChg>
        <pc:picChg chg="add mod">
          <ac:chgData name="Wrick Banerjee" userId="0bc651a74f82cf1d" providerId="LiveId" clId="{1642FFF8-90A8-456D-8271-528A71F2BACC}" dt="2026-02-19T15:12:22.020" v="74" actId="14100"/>
          <ac:picMkLst>
            <pc:docMk/>
            <pc:sldMk cId="1175794640" sldId="258"/>
            <ac:picMk id="11" creationId="{CECE3A24-9BBC-617C-C4C5-240E2BDCD892}"/>
          </ac:picMkLst>
        </pc:picChg>
      </pc:sldChg>
      <pc:sldChg chg="addSp modSp mod">
        <pc:chgData name="Wrick Banerjee" userId="0bc651a74f82cf1d" providerId="LiveId" clId="{1642FFF8-90A8-456D-8271-528A71F2BACC}" dt="2026-02-18T19:28:25.506" v="59" actId="20577"/>
        <pc:sldMkLst>
          <pc:docMk/>
          <pc:sldMk cId="3510154877" sldId="259"/>
        </pc:sldMkLst>
        <pc:spChg chg="mod">
          <ac:chgData name="Wrick Banerjee" userId="0bc651a74f82cf1d" providerId="LiveId" clId="{1642FFF8-90A8-456D-8271-528A71F2BACC}" dt="2026-02-18T19:08:22.672" v="40" actId="207"/>
          <ac:spMkLst>
            <pc:docMk/>
            <pc:sldMk cId="3510154877" sldId="259"/>
            <ac:spMk id="2" creationId="{89ED9C25-EEB1-5143-033E-1C32F8B6F0A9}"/>
          </ac:spMkLst>
        </pc:spChg>
        <pc:spChg chg="add mod">
          <ac:chgData name="Wrick Banerjee" userId="0bc651a74f82cf1d" providerId="LiveId" clId="{1642FFF8-90A8-456D-8271-528A71F2BACC}" dt="2026-02-18T19:03:43.382" v="35"/>
          <ac:spMkLst>
            <pc:docMk/>
            <pc:sldMk cId="3510154877" sldId="259"/>
            <ac:spMk id="3" creationId="{D6321917-5502-E17E-30B2-FD5C090EB9CA}"/>
          </ac:spMkLst>
        </pc:spChg>
        <pc:spChg chg="mod">
          <ac:chgData name="Wrick Banerjee" userId="0bc651a74f82cf1d" providerId="LiveId" clId="{1642FFF8-90A8-456D-8271-528A71F2BACC}" dt="2026-02-18T19:28:25.506" v="59" actId="20577"/>
          <ac:spMkLst>
            <pc:docMk/>
            <pc:sldMk cId="3510154877" sldId="259"/>
            <ac:spMk id="7" creationId="{8AD5AC6E-CDD7-2259-3ACA-18EF07FF1C4C}"/>
          </ac:spMkLst>
        </pc:spChg>
      </pc:sldChg>
      <pc:sldChg chg="addSp modSp mod">
        <pc:chgData name="Wrick Banerjee" userId="0bc651a74f82cf1d" providerId="LiveId" clId="{1642FFF8-90A8-456D-8271-528A71F2BACC}" dt="2026-02-18T19:08:51.644" v="44" actId="255"/>
        <pc:sldMkLst>
          <pc:docMk/>
          <pc:sldMk cId="3989507119" sldId="260"/>
        </pc:sldMkLst>
        <pc:spChg chg="mod">
          <ac:chgData name="Wrick Banerjee" userId="0bc651a74f82cf1d" providerId="LiveId" clId="{1642FFF8-90A8-456D-8271-528A71F2BACC}" dt="2026-02-18T19:08:28.745" v="41" actId="207"/>
          <ac:spMkLst>
            <pc:docMk/>
            <pc:sldMk cId="3989507119" sldId="260"/>
            <ac:spMk id="2" creationId="{3EF51A7E-125E-FEA5-4440-B8F2E5059FD1}"/>
          </ac:spMkLst>
        </pc:spChg>
        <pc:spChg chg="add mod">
          <ac:chgData name="Wrick Banerjee" userId="0bc651a74f82cf1d" providerId="LiveId" clId="{1642FFF8-90A8-456D-8271-528A71F2BACC}" dt="2026-02-18T19:03:46.708" v="36"/>
          <ac:spMkLst>
            <pc:docMk/>
            <pc:sldMk cId="3989507119" sldId="260"/>
            <ac:spMk id="3" creationId="{7F07D9DA-BCCB-3338-6935-DF9B3C59D09A}"/>
          </ac:spMkLst>
        </pc:spChg>
        <pc:spChg chg="mod">
          <ac:chgData name="Wrick Banerjee" userId="0bc651a74f82cf1d" providerId="LiveId" clId="{1642FFF8-90A8-456D-8271-528A71F2BACC}" dt="2026-02-18T19:08:51.644" v="44" actId="255"/>
          <ac:spMkLst>
            <pc:docMk/>
            <pc:sldMk cId="3989507119" sldId="260"/>
            <ac:spMk id="9" creationId="{9E344E49-6652-5D30-B69B-B543D6F1012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CA9636-817D-46C3-96CC-6787533A9E3A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842A9D-57B0-4FD0-8478-94549DB50B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396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E4C22-DB2E-316A-FA75-2CED113509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CCD50B-CE5E-2E92-6AD4-ADAA0CC0CF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BAF9E-4288-111D-99C8-FDFCD38F5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EC7D5-10AE-44D5-B9DA-BF4DE88773D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1AACC-BE40-2A84-3EBE-CFDE06645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B549C-EACE-517E-46EC-2D0E3796A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1F4AB-9813-45F1-8757-07DF3C270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2851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A44AD-5047-B35E-CBEC-BD9FFA393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905F3-2319-3D72-0C7D-23A732C98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9AEBC-4B07-A3FD-9FA5-5C54BACB6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EC7D5-10AE-44D5-B9DA-BF4DE88773D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925FC-902E-8168-B13E-A575AB621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94264-9F81-02B5-1BB7-823CE3FAA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1F4AB-9813-45F1-8757-07DF3C270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495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3FEE1-50A9-377C-FE3E-6DAA548B5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58D71F-C458-6334-5541-3BF8CB9ED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F9A75-E774-82ED-2821-1D5301FCC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EC7D5-10AE-44D5-B9DA-BF4DE88773D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B19B9-E9D5-C394-7716-995829DCD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96871-BB86-422F-5396-6D0DEA047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1F4AB-9813-45F1-8757-07DF3C270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478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81009-9A8A-FEFC-A20B-F5A2DA9C7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26727-9CD0-320A-9280-A3B00D2282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7B1ADD-DB50-5127-4964-6385C009A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7DBFB-0EDE-8A90-45FF-01E4AD983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EC7D5-10AE-44D5-B9DA-BF4DE88773D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516852-8AC5-C2B4-67C0-41046DCE2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B2A75F-BE69-A77C-92F8-A55DFFDE5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1F4AB-9813-45F1-8757-07DF3C270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2127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3218E-CB99-7B33-CECF-4EB08F515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35F44D-F33D-9748-EAC3-DA85A17E8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84F682-0329-3D55-2151-8CA10DDC39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52A1C1-4343-4022-E4E7-BB514B1AC6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AAB43D-B1E2-A708-B518-FD126D505F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90678F-1F1D-35CA-A6F1-4C501BD7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EC7D5-10AE-44D5-B9DA-BF4DE88773D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71321B-2D3B-BBB0-6FA2-0A5B73483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FA5C56-8DA5-8352-A163-33F6AA27A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1F4AB-9813-45F1-8757-07DF3C270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943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1EE52-E9D9-0538-37BE-C9F5C5F92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DCAD09-9575-6E01-FF5A-1901446F2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EC7D5-10AE-44D5-B9DA-BF4DE88773D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4766CF-DCC9-32F4-3354-300B4872B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D7470-DF9B-DCAA-6E9E-59C7AC120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1F4AB-9813-45F1-8757-07DF3C270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799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A7C226-DAFB-7723-5CC5-B14D39108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EC7D5-10AE-44D5-B9DA-BF4DE88773D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49C422-F946-0257-A42A-2BAAB8DD8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98F85-CF5B-84A8-8382-6724EFA1A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1F4AB-9813-45F1-8757-07DF3C270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6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0B93F-1DA3-641F-FFBB-78F32DF5C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7919F-1D21-BF51-A10E-0587ED305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2EFC65-6C46-971D-F16A-580A04975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F1F58F-262B-DA1D-3241-646B67C12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EC7D5-10AE-44D5-B9DA-BF4DE88773D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458642-9818-AD36-28C5-A95454AD4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B9A88A-5ACA-FE69-FA65-E91A91251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1F4AB-9813-45F1-8757-07DF3C270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5571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22684-97A4-84B2-809C-8BB958087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19E15D-9854-041F-980D-952B83D61A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793105-A532-05A4-246E-9DAF3E04E7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1B7F74-3709-F409-65A3-D177657E0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EC7D5-10AE-44D5-B9DA-BF4DE88773D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C3AA2-98F5-339B-A10D-71435F551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4B1B1-C7EB-8BD9-0145-4D9DBAD65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1F4AB-9813-45F1-8757-07DF3C270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937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CFA10-4FB9-3D7C-D810-8EEF98C1C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845A1E-0E64-A5BF-3B20-AFD50270A0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E623C-5A56-875E-D3B2-93819C572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EC7D5-10AE-44D5-B9DA-BF4DE88773D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99ED0-CF09-5324-1738-E3D3A61DE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C50AB-F1A0-1378-2FD3-AB44BBADE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1F4AB-9813-45F1-8757-07DF3C270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998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BF3C2B-DC26-22B4-CD1D-759A7206BC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2DAA7C-8F04-9091-FE6B-10EBA9006A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52805-57E5-C144-929E-DD8FE2F8F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EC7D5-10AE-44D5-B9DA-BF4DE88773D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98F8D-AD32-0921-9B4B-82F2F6703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7E83A-7358-70BF-A65B-DAB0A715F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1F4AB-9813-45F1-8757-07DF3C270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434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15B08A-6DE1-FFEB-1380-79317E98B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379CE-E529-70BB-11DC-8ECA48055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9B0E2-DEE7-B295-6303-6E2175566E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5EC7D5-10AE-44D5-B9DA-BF4DE88773D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F3237-6844-967F-3C15-972A1AD8F6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EBDF3-9401-C5D0-22C9-D456565C92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81F4AB-9813-45F1-8757-07DF3C270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927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ictorcezeh/global-superstore-project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victorcezeh/global-superstore-projec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ctorcezeh/global-superstore-project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ictorcezeh/global-superstore-projec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8FF8B-D0A8-8237-3C87-95940D412F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5A3602"/>
                </a:solidFill>
              </a:rPr>
              <a:t>Retail Profitability Optimization: Global Superstore Case</a:t>
            </a:r>
            <a:endParaRPr lang="en-IN" b="1" dirty="0">
              <a:solidFill>
                <a:srgbClr val="5A360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619491-7A65-6250-1E65-694FB2A70D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498014"/>
          </a:xfrm>
        </p:spPr>
        <p:txBody>
          <a:bodyPr/>
          <a:lstStyle/>
          <a:p>
            <a:r>
              <a:rPr lang="en-US" dirty="0"/>
              <a:t>Consulting Analysis Using Excel, SQL &amp; Power BI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403AF4-5E90-EFEC-1044-8E4ECF74007B}"/>
              </a:ext>
            </a:extLst>
          </p:cNvPr>
          <p:cNvSpPr txBox="1"/>
          <p:nvPr/>
        </p:nvSpPr>
        <p:spPr>
          <a:xfrm>
            <a:off x="8986684" y="5089306"/>
            <a:ext cx="16813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5A3602"/>
                </a:solidFill>
              </a:rPr>
              <a:t>Presented by:</a:t>
            </a:r>
            <a:br>
              <a:rPr lang="en-US" dirty="0"/>
            </a:br>
            <a:r>
              <a:rPr lang="en-US" dirty="0"/>
              <a:t>Wrick Banerjee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1690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8AF65-662A-DB6C-B01C-FDFC37506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599" cy="657429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5A3602"/>
                </a:solidFill>
              </a:rPr>
              <a:t>Key Insights Driving Profitability Performance Across Categories and Regions</a:t>
            </a:r>
            <a:endParaRPr lang="en-IN" sz="2800" b="1" dirty="0">
              <a:solidFill>
                <a:srgbClr val="5A3602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878314E-FB95-8297-0933-2804A4FFBCE3}"/>
              </a:ext>
            </a:extLst>
          </p:cNvPr>
          <p:cNvCxnSpPr>
            <a:cxnSpLocks/>
          </p:cNvCxnSpPr>
          <p:nvPr/>
        </p:nvCxnSpPr>
        <p:spPr>
          <a:xfrm>
            <a:off x="838200" y="1022555"/>
            <a:ext cx="1051560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 2">
            <a:extLst>
              <a:ext uri="{FF2B5EF4-FFF2-40B4-BE49-F238E27FC236}">
                <a16:creationId xmlns:a16="http://schemas.microsoft.com/office/drawing/2014/main" id="{3BB26185-5AFC-596A-1399-3F14D32213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41580"/>
            <a:ext cx="105156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Technology is the most profitable category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contributing over 35% of total profit, driven by high margins and volume.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Furniture underperforms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with relatively low profit despite strong sales — discounting and shipping costs drive margin loss.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High-discount orders (≥30%) result in negative profit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especially in B2C segment; pricing strategy needs refinement.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 and Western regions outperform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others in profit margin; South and Africa show signs of margin pressure.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1471E2-2DBD-10F5-2774-07D0F5C9A31F}"/>
              </a:ext>
            </a:extLst>
          </p:cNvPr>
          <p:cNvSpPr txBox="1"/>
          <p:nvPr/>
        </p:nvSpPr>
        <p:spPr>
          <a:xfrm>
            <a:off x="3654137" y="6390439"/>
            <a:ext cx="83993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“Data Source: Global Superstore Dataset via GitHub – </a:t>
            </a:r>
            <a:r>
              <a:rPr lang="en-IN" sz="1400" dirty="0">
                <a:hlinkClick r:id="rId2"/>
              </a:rPr>
              <a:t>https://github.com/</a:t>
            </a:r>
            <a:r>
              <a:rPr lang="en-IN" sz="1400" dirty="0" err="1">
                <a:hlinkClick r:id="rId2"/>
              </a:rPr>
              <a:t>victorcezeh</a:t>
            </a:r>
            <a:r>
              <a:rPr lang="en-IN" sz="1400" dirty="0">
                <a:hlinkClick r:id="rId2"/>
              </a:rPr>
              <a:t>/global-superstore-project</a:t>
            </a:r>
            <a:r>
              <a:rPr lang="en-IN" sz="14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52893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61733-D66B-99F3-C0D4-1BB3F46DC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ECA29-B944-4560-F301-179644E36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7429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5A3602"/>
                </a:solidFill>
              </a:rPr>
              <a:t>Category &amp; Region-Level Profitability Breakdown</a:t>
            </a:r>
            <a:endParaRPr lang="en-IN" sz="2800" b="1" dirty="0">
              <a:solidFill>
                <a:srgbClr val="5A3602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22D42B-156F-6391-E8A4-F8AF04B47E31}"/>
              </a:ext>
            </a:extLst>
          </p:cNvPr>
          <p:cNvCxnSpPr>
            <a:cxnSpLocks/>
          </p:cNvCxnSpPr>
          <p:nvPr/>
        </p:nvCxnSpPr>
        <p:spPr>
          <a:xfrm>
            <a:off x="838200" y="1022555"/>
            <a:ext cx="1051560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" name="Rectangle 2">
            <a:extLst>
              <a:ext uri="{FF2B5EF4-FFF2-40B4-BE49-F238E27FC236}">
                <a16:creationId xmlns:a16="http://schemas.microsoft.com/office/drawing/2014/main" id="{8B622939-B5A8-67F7-6838-67C6231C4F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4615559"/>
            <a:ext cx="105156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Technology leads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profit with over $145,000 — a clear margin leader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Furniture struggles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especially when deep discounts are applied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Central and Western regions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drive most profits, while others show weak margin contribution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52FDCD-406A-0A21-E71A-A7C1E911BC6B}"/>
              </a:ext>
            </a:extLst>
          </p:cNvPr>
          <p:cNvSpPr txBox="1"/>
          <p:nvPr/>
        </p:nvSpPr>
        <p:spPr>
          <a:xfrm>
            <a:off x="3654137" y="6390439"/>
            <a:ext cx="83993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“Data Source: Global Superstore Dataset via GitHub – </a:t>
            </a:r>
            <a:r>
              <a:rPr lang="en-IN" sz="1400" dirty="0">
                <a:hlinkClick r:id="rId2"/>
              </a:rPr>
              <a:t>https://github.com/</a:t>
            </a:r>
            <a:r>
              <a:rPr lang="en-IN" sz="1400" dirty="0" err="1">
                <a:hlinkClick r:id="rId2"/>
              </a:rPr>
              <a:t>victorcezeh</a:t>
            </a:r>
            <a:r>
              <a:rPr lang="en-IN" sz="1400" dirty="0">
                <a:hlinkClick r:id="rId2"/>
              </a:rPr>
              <a:t>/global-superstore-project</a:t>
            </a:r>
            <a:r>
              <a:rPr lang="en-IN" sz="1400" dirty="0"/>
              <a:t>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999BCF-6982-CE8E-653D-AB6CB86E81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8" y="1437094"/>
            <a:ext cx="5257802" cy="28104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ECE3A24-9BBC-617C-C4C5-240E2BDCD8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65424"/>
            <a:ext cx="5257800" cy="278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794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E65A4-0B3D-E025-56E8-523C39754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D9C25-EEB1-5143-033E-1C32F8B6F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7429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5A3602"/>
                </a:solidFill>
              </a:rPr>
              <a:t>Orders with High Discounts (≥30%) Consistently Generate Losses</a:t>
            </a:r>
            <a:endParaRPr lang="en-IN" sz="2800" b="1" dirty="0">
              <a:solidFill>
                <a:srgbClr val="5A3602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522984A-1D3D-682B-2575-8C11C4A8FF34}"/>
              </a:ext>
            </a:extLst>
          </p:cNvPr>
          <p:cNvCxnSpPr>
            <a:cxnSpLocks/>
          </p:cNvCxnSpPr>
          <p:nvPr/>
        </p:nvCxnSpPr>
        <p:spPr>
          <a:xfrm>
            <a:off x="838200" y="1022555"/>
            <a:ext cx="1051560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CD96CB9-4C86-1A02-B9DF-60B84F2622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91519"/>
            <a:ext cx="5926390" cy="4721981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8AD5AC6E-CDD7-2259-3ACA-18EF07FF1C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72031" y="2274838"/>
            <a:ext cx="448176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Orders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≥30% discount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result in average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losses per sale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B2C and Furniture segments are especially vulnerable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Strategic discounting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needed to protect margins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321917-5502-E17E-30B2-FD5C090EB9CA}"/>
              </a:ext>
            </a:extLst>
          </p:cNvPr>
          <p:cNvSpPr txBox="1"/>
          <p:nvPr/>
        </p:nvSpPr>
        <p:spPr>
          <a:xfrm>
            <a:off x="3654137" y="6390439"/>
            <a:ext cx="83993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“Data Source: Global Superstore Dataset via GitHub – </a:t>
            </a:r>
            <a:r>
              <a:rPr lang="en-IN" sz="1400" dirty="0">
                <a:hlinkClick r:id="rId3"/>
              </a:rPr>
              <a:t>https://github.com/</a:t>
            </a:r>
            <a:r>
              <a:rPr lang="en-IN" sz="1400" dirty="0" err="1">
                <a:hlinkClick r:id="rId3"/>
              </a:rPr>
              <a:t>victorcezeh</a:t>
            </a:r>
            <a:r>
              <a:rPr lang="en-IN" sz="1400" dirty="0">
                <a:hlinkClick r:id="rId3"/>
              </a:rPr>
              <a:t>/global-superstore-project</a:t>
            </a:r>
            <a:r>
              <a:rPr lang="en-IN" sz="14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0154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4A0D9-5DA7-4B62-BC89-FDA0E9AA0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51A7E-125E-FEA5-4440-B8F2E5059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7429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5A3602"/>
                </a:solidFill>
              </a:rPr>
              <a:t>Strategic Actions to Improve Profitability and Pricing Efficiency</a:t>
            </a:r>
            <a:endParaRPr lang="en-IN" sz="2800" b="1" dirty="0">
              <a:solidFill>
                <a:srgbClr val="5A3602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B67E761-B7BB-7899-DCD1-8E28074A206D}"/>
              </a:ext>
            </a:extLst>
          </p:cNvPr>
          <p:cNvCxnSpPr>
            <a:cxnSpLocks/>
          </p:cNvCxnSpPr>
          <p:nvPr/>
        </p:nvCxnSpPr>
        <p:spPr>
          <a:xfrm>
            <a:off x="838200" y="1022555"/>
            <a:ext cx="1051560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 2">
            <a:extLst>
              <a:ext uri="{FF2B5EF4-FFF2-40B4-BE49-F238E27FC236}">
                <a16:creationId xmlns:a16="http://schemas.microsoft.com/office/drawing/2014/main" id="{9E344E49-6652-5D30-B69B-B543D6F101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20903"/>
            <a:ext cx="10515600" cy="4414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3 Key Recommendations:</a:t>
            </a:r>
          </a:p>
          <a:p>
            <a:pPr marL="0" indent="0">
              <a:buNone/>
            </a:pPr>
            <a:endParaRPr 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Rationalize Discounting Strategy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Cap discounts at 20% in low-margin categories (e.g., Furniture)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Prioritize value-based pricing for B2C orders</a:t>
            </a:r>
          </a:p>
          <a:p>
            <a:pPr lvl="1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Double Down on High-Margin Segments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Expand marketing and fulfillment for Technology and Office Supplies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Focus on Central and West regions for growth</a:t>
            </a:r>
          </a:p>
          <a:p>
            <a:pPr lvl="1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Investigate Operational Inefficiencies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Deep dive into product lines with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negative margins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Reassess shipping methods and costs for loss-making orders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07D9DA-BCCB-3338-6935-DF9B3C59D09A}"/>
              </a:ext>
            </a:extLst>
          </p:cNvPr>
          <p:cNvSpPr txBox="1"/>
          <p:nvPr/>
        </p:nvSpPr>
        <p:spPr>
          <a:xfrm>
            <a:off x="3654137" y="6390439"/>
            <a:ext cx="83993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“Data Source: Global Superstore Dataset via GitHub – </a:t>
            </a:r>
            <a:r>
              <a:rPr lang="en-IN" sz="1400" dirty="0">
                <a:hlinkClick r:id="rId2"/>
              </a:rPr>
              <a:t>https://github.com/</a:t>
            </a:r>
            <a:r>
              <a:rPr lang="en-IN" sz="1400" dirty="0" err="1">
                <a:hlinkClick r:id="rId2"/>
              </a:rPr>
              <a:t>victorcezeh</a:t>
            </a:r>
            <a:r>
              <a:rPr lang="en-IN" sz="1400" dirty="0">
                <a:hlinkClick r:id="rId2"/>
              </a:rPr>
              <a:t>/global-superstore-project</a:t>
            </a:r>
            <a:r>
              <a:rPr lang="en-IN" sz="14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89507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353</Words>
  <Application>Microsoft Office PowerPoint</Application>
  <PresentationFormat>Widescreen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Retail Profitability Optimization: Global Superstore Case</vt:lpstr>
      <vt:lpstr>Key Insights Driving Profitability Performance Across Categories and Regions</vt:lpstr>
      <vt:lpstr>Category &amp; Region-Level Profitability Breakdown</vt:lpstr>
      <vt:lpstr>Orders with High Discounts (≥30%) Consistently Generate Losses</vt:lpstr>
      <vt:lpstr>Strategic Actions to Improve Profitability and Pricing Efficiency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Wrick Banerjee</dc:creator>
  <cp:lastModifiedBy>Wrick Banerjee</cp:lastModifiedBy>
  <cp:revision>1</cp:revision>
  <dcterms:created xsi:type="dcterms:W3CDTF">2026-02-18T18:22:21Z</dcterms:created>
  <dcterms:modified xsi:type="dcterms:W3CDTF">2026-02-19T15:12:30Z</dcterms:modified>
</cp:coreProperties>
</file>